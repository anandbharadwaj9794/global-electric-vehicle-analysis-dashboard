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62" r:id="rId3"/>
    <p:sldId id="260" r:id="rId4"/>
    <p:sldId id="264" r:id="rId5"/>
    <p:sldId id="266" r:id="rId6"/>
    <p:sldId id="282" r:id="rId7"/>
    <p:sldId id="288" r:id="rId8"/>
    <p:sldId id="283" r:id="rId9"/>
    <p:sldId id="284" r:id="rId10"/>
    <p:sldId id="285" r:id="rId11"/>
    <p:sldId id="289" r:id="rId12"/>
    <p:sldId id="290" r:id="rId13"/>
    <p:sldId id="292" r:id="rId14"/>
    <p:sldId id="293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E7A7A3-78E7-462E-8C6E-D11C5E144621}" v="8" dt="2025-11-15T05:21:05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660"/>
  </p:normalViewPr>
  <p:slideViewPr>
    <p:cSldViewPr snapToGrid="0">
      <p:cViewPr varScale="1">
        <p:scale>
          <a:sx n="84" d="100"/>
          <a:sy n="84" d="100"/>
        </p:scale>
        <p:origin x="9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Bharadwaj" userId="e19c267242d4bc4c" providerId="LiveId" clId="{25E71196-1C13-4675-8601-37984577C6DC}"/>
    <pc:docChg chg="undo custSel addSld delSld modSld sldOrd">
      <pc:chgData name="Anand Bharadwaj" userId="e19c267242d4bc4c" providerId="LiveId" clId="{25E71196-1C13-4675-8601-37984577C6DC}" dt="2025-11-15T05:23:17.636" v="6233" actId="20577"/>
      <pc:docMkLst>
        <pc:docMk/>
      </pc:docMkLst>
      <pc:sldChg chg="modSp mod">
        <pc:chgData name="Anand Bharadwaj" userId="e19c267242d4bc4c" providerId="LiveId" clId="{25E71196-1C13-4675-8601-37984577C6DC}" dt="2025-11-15T05:23:17.636" v="6233" actId="20577"/>
        <pc:sldMkLst>
          <pc:docMk/>
          <pc:sldMk cId="0" sldId="257"/>
        </pc:sldMkLst>
        <pc:spChg chg="mod">
          <ac:chgData name="Anand Bharadwaj" userId="e19c267242d4bc4c" providerId="LiveId" clId="{25E71196-1C13-4675-8601-37984577C6DC}" dt="2025-11-05T20:33:20.552" v="5520" actId="20577"/>
          <ac:spMkLst>
            <pc:docMk/>
            <pc:sldMk cId="0" sldId="257"/>
            <ac:spMk id="2" creationId="{5A6B0273-7DC8-DA1D-CE1F-C9866D0B055E}"/>
          </ac:spMkLst>
        </pc:spChg>
        <pc:spChg chg="mod">
          <ac:chgData name="Anand Bharadwaj" userId="e19c267242d4bc4c" providerId="LiveId" clId="{25E71196-1C13-4675-8601-37984577C6DC}" dt="2025-11-15T05:23:17.636" v="6233" actId="20577"/>
          <ac:spMkLst>
            <pc:docMk/>
            <pc:sldMk cId="0" sldId="257"/>
            <ac:spMk id="99" creationId="{00000000-0000-0000-0000-000000000000}"/>
          </ac:spMkLst>
        </pc:spChg>
        <pc:picChg chg="mod">
          <ac:chgData name="Anand Bharadwaj" userId="e19c267242d4bc4c" providerId="LiveId" clId="{25E71196-1C13-4675-8601-37984577C6DC}" dt="2025-11-15T05:14:41.064" v="6147" actId="1036"/>
          <ac:picMkLst>
            <pc:docMk/>
            <pc:sldMk cId="0" sldId="257"/>
            <ac:picMk id="98" creationId="{00000000-0000-0000-0000-000000000000}"/>
          </ac:picMkLst>
        </pc:picChg>
      </pc:sldChg>
      <pc:sldChg chg="addSp delSp modSp mod ord">
        <pc:chgData name="Anand Bharadwaj" userId="e19c267242d4bc4c" providerId="LiveId" clId="{25E71196-1C13-4675-8601-37984577C6DC}" dt="2025-11-15T05:14:17.127" v="6145" actId="20577"/>
        <pc:sldMkLst>
          <pc:docMk/>
          <pc:sldMk cId="1858329523" sldId="260"/>
        </pc:sldMkLst>
        <pc:spChg chg="mod">
          <ac:chgData name="Anand Bharadwaj" userId="e19c267242d4bc4c" providerId="LiveId" clId="{25E71196-1C13-4675-8601-37984577C6DC}" dt="2025-11-07T12:43:36.197" v="5588" actId="20577"/>
          <ac:spMkLst>
            <pc:docMk/>
            <pc:sldMk cId="1858329523" sldId="260"/>
            <ac:spMk id="2" creationId="{577C85C3-4501-3386-B2D5-3327998D07A9}"/>
          </ac:spMkLst>
        </pc:spChg>
        <pc:spChg chg="add mod">
          <ac:chgData name="Anand Bharadwaj" userId="e19c267242d4bc4c" providerId="LiveId" clId="{25E71196-1C13-4675-8601-37984577C6DC}" dt="2025-11-15T05:14:17.127" v="6145" actId="20577"/>
          <ac:spMkLst>
            <pc:docMk/>
            <pc:sldMk cId="1858329523" sldId="260"/>
            <ac:spMk id="7" creationId="{7133B007-2882-B9F8-D35B-35A5F6590CAC}"/>
          </ac:spMkLst>
        </pc:spChg>
      </pc:sldChg>
      <pc:sldChg chg="addSp delSp modSp add mod">
        <pc:chgData name="Anand Bharadwaj" userId="e19c267242d4bc4c" providerId="LiveId" clId="{25E71196-1C13-4675-8601-37984577C6DC}" dt="2025-11-05T18:45:08.962" v="3453" actId="20577"/>
        <pc:sldMkLst>
          <pc:docMk/>
          <pc:sldMk cId="2567582152" sldId="262"/>
        </pc:sldMkLst>
        <pc:spChg chg="add mod">
          <ac:chgData name="Anand Bharadwaj" userId="e19c267242d4bc4c" providerId="LiveId" clId="{25E71196-1C13-4675-8601-37984577C6DC}" dt="2025-11-05T18:45:08.962" v="3453" actId="20577"/>
          <ac:spMkLst>
            <pc:docMk/>
            <pc:sldMk cId="2567582152" sldId="262"/>
            <ac:spMk id="5" creationId="{705E0501-00A5-D091-38E3-B13BA37808BE}"/>
          </ac:spMkLst>
        </pc:spChg>
      </pc:sldChg>
      <pc:sldChg chg="modSp add mod">
        <pc:chgData name="Anand Bharadwaj" userId="e19c267242d4bc4c" providerId="LiveId" clId="{25E71196-1C13-4675-8601-37984577C6DC}" dt="2025-11-05T19:19:06.854" v="4259" actId="113"/>
        <pc:sldMkLst>
          <pc:docMk/>
          <pc:sldMk cId="2226480637" sldId="264"/>
        </pc:sldMkLst>
        <pc:spChg chg="mod">
          <ac:chgData name="Anand Bharadwaj" userId="e19c267242d4bc4c" providerId="LiveId" clId="{25E71196-1C13-4675-8601-37984577C6DC}" dt="2025-11-05T19:19:06.854" v="4259" actId="113"/>
          <ac:spMkLst>
            <pc:docMk/>
            <pc:sldMk cId="2226480637" sldId="264"/>
            <ac:spMk id="5" creationId="{080F16B0-EA58-05F0-D48C-64805A4A384D}"/>
          </ac:spMkLst>
        </pc:spChg>
      </pc:sldChg>
      <pc:sldChg chg="addSp delSp modSp add mod ord">
        <pc:chgData name="Anand Bharadwaj" userId="e19c267242d4bc4c" providerId="LiveId" clId="{25E71196-1C13-4675-8601-37984577C6DC}" dt="2025-11-07T17:12:26.567" v="6079" actId="20578"/>
        <pc:sldMkLst>
          <pc:docMk/>
          <pc:sldMk cId="1721805322" sldId="266"/>
        </pc:sldMkLst>
        <pc:spChg chg="add mod">
          <ac:chgData name="Anand Bharadwaj" userId="e19c267242d4bc4c" providerId="LiveId" clId="{25E71196-1C13-4675-8601-37984577C6DC}" dt="2025-11-05T19:27:25.200" v="4429" actId="255"/>
          <ac:spMkLst>
            <pc:docMk/>
            <pc:sldMk cId="1721805322" sldId="266"/>
            <ac:spMk id="2" creationId="{CE5EF7BD-00CF-FF94-2913-608B6CEA41A1}"/>
          </ac:spMkLst>
        </pc:spChg>
        <pc:spChg chg="mod">
          <ac:chgData name="Anand Bharadwaj" userId="e19c267242d4bc4c" providerId="LiveId" clId="{25E71196-1C13-4675-8601-37984577C6DC}" dt="2025-11-05T19:25:15.893" v="4383" actId="20577"/>
          <ac:spMkLst>
            <pc:docMk/>
            <pc:sldMk cId="1721805322" sldId="266"/>
            <ac:spMk id="4" creationId="{4B4882B6-2540-AA18-A496-862353CAD3F8}"/>
          </ac:spMkLst>
        </pc:spChg>
        <pc:spChg chg="add mod">
          <ac:chgData name="Anand Bharadwaj" userId="e19c267242d4bc4c" providerId="LiveId" clId="{25E71196-1C13-4675-8601-37984577C6DC}" dt="2025-11-07T14:06:08.355" v="5821" actId="113"/>
          <ac:spMkLst>
            <pc:docMk/>
            <pc:sldMk cId="1721805322" sldId="266"/>
            <ac:spMk id="12" creationId="{BFED6C6C-0297-0879-7367-5C2EAED92201}"/>
          </ac:spMkLst>
        </pc:spChg>
      </pc:sldChg>
      <pc:sldChg chg="addSp modSp mod ord">
        <pc:chgData name="Anand Bharadwaj" userId="e19c267242d4bc4c" providerId="LiveId" clId="{25E71196-1C13-4675-8601-37984577C6DC}" dt="2025-11-07T17:09:31.978" v="6076" actId="20577"/>
        <pc:sldMkLst>
          <pc:docMk/>
          <pc:sldMk cId="2027359492" sldId="272"/>
        </pc:sldMkLst>
        <pc:spChg chg="mod">
          <ac:chgData name="Anand Bharadwaj" userId="e19c267242d4bc4c" providerId="LiveId" clId="{25E71196-1C13-4675-8601-37984577C6DC}" dt="2025-11-07T17:09:31.978" v="6076" actId="20577"/>
          <ac:spMkLst>
            <pc:docMk/>
            <pc:sldMk cId="2027359492" sldId="272"/>
            <ac:spMk id="3" creationId="{498D54BE-68D1-61BC-E0ED-43249E33C68B}"/>
          </ac:spMkLst>
        </pc:spChg>
      </pc:sldChg>
      <pc:sldChg chg="addSp delSp modSp add mod ord">
        <pc:chgData name="Anand Bharadwaj" userId="e19c267242d4bc4c" providerId="LiveId" clId="{25E71196-1C13-4675-8601-37984577C6DC}" dt="2025-11-15T03:50:12.750" v="6112" actId="113"/>
        <pc:sldMkLst>
          <pc:docMk/>
          <pc:sldMk cId="292121809" sldId="282"/>
        </pc:sldMkLst>
        <pc:spChg chg="add mod">
          <ac:chgData name="Anand Bharadwaj" userId="e19c267242d4bc4c" providerId="LiveId" clId="{25E71196-1C13-4675-8601-37984577C6DC}" dt="2025-11-15T03:50:12.750" v="6112" actId="113"/>
          <ac:spMkLst>
            <pc:docMk/>
            <pc:sldMk cId="292121809" sldId="282"/>
            <ac:spMk id="3" creationId="{D79E7D8C-DB12-660D-962A-E69CDD4F05F8}"/>
          </ac:spMkLst>
        </pc:spChg>
        <pc:spChg chg="mod">
          <ac:chgData name="Anand Bharadwaj" userId="e19c267242d4bc4c" providerId="LiveId" clId="{25E71196-1C13-4675-8601-37984577C6DC}" dt="2025-11-07T16:55:54.942" v="6022" actId="20577"/>
          <ac:spMkLst>
            <pc:docMk/>
            <pc:sldMk cId="292121809" sldId="282"/>
            <ac:spMk id="5" creationId="{BADC1791-C2FF-5DF3-60A9-D8707737EA6E}"/>
          </ac:spMkLst>
        </pc:spChg>
        <pc:picChg chg="del">
          <ac:chgData name="Anand Bharadwaj" userId="e19c267242d4bc4c" providerId="LiveId" clId="{25E71196-1C13-4675-8601-37984577C6DC}" dt="2025-11-14T17:23:38.978" v="6095" actId="478"/>
          <ac:picMkLst>
            <pc:docMk/>
            <pc:sldMk cId="292121809" sldId="282"/>
            <ac:picMk id="7" creationId="{89049642-31B7-9295-8286-B9EBBDE0BEA3}"/>
          </ac:picMkLst>
        </pc:picChg>
        <pc:picChg chg="add mod">
          <ac:chgData name="Anand Bharadwaj" userId="e19c267242d4bc4c" providerId="LiveId" clId="{25E71196-1C13-4675-8601-37984577C6DC}" dt="2025-11-14T17:24:36.703" v="6098" actId="1076"/>
          <ac:picMkLst>
            <pc:docMk/>
            <pc:sldMk cId="292121809" sldId="282"/>
            <ac:picMk id="8" creationId="{7CE829DE-81A7-2DFD-5E3D-2C457E952D8A}"/>
          </ac:picMkLst>
        </pc:picChg>
      </pc:sldChg>
      <pc:sldChg chg="addSp delSp modSp add mod">
        <pc:chgData name="Anand Bharadwaj" userId="e19c267242d4bc4c" providerId="LiveId" clId="{25E71196-1C13-4675-8601-37984577C6DC}" dt="2025-11-15T04:09:48.658" v="6123" actId="1036"/>
        <pc:sldMkLst>
          <pc:docMk/>
          <pc:sldMk cId="3651016996" sldId="283"/>
        </pc:sldMkLst>
        <pc:spChg chg="mod">
          <ac:chgData name="Anand Bharadwaj" userId="e19c267242d4bc4c" providerId="LiveId" clId="{25E71196-1C13-4675-8601-37984577C6DC}" dt="2025-11-07T14:56:29.242" v="5898" actId="313"/>
          <ac:spMkLst>
            <pc:docMk/>
            <pc:sldMk cId="3651016996" sldId="283"/>
            <ac:spMk id="5" creationId="{30EF986E-E3B0-2D57-BCD6-5A040A8E53A2}"/>
          </ac:spMkLst>
        </pc:spChg>
        <pc:spChg chg="mod">
          <ac:chgData name="Anand Bharadwaj" userId="e19c267242d4bc4c" providerId="LiveId" clId="{25E71196-1C13-4675-8601-37984577C6DC}" dt="2025-11-15T04:09:48.658" v="6123" actId="1036"/>
          <ac:spMkLst>
            <pc:docMk/>
            <pc:sldMk cId="3651016996" sldId="283"/>
            <ac:spMk id="12" creationId="{C06B699B-4B1E-5CBB-F378-29F8DFF5FA87}"/>
          </ac:spMkLst>
        </pc:spChg>
      </pc:sldChg>
      <pc:sldChg chg="addSp delSp modSp add mod">
        <pc:chgData name="Anand Bharadwaj" userId="e19c267242d4bc4c" providerId="LiveId" clId="{25E71196-1C13-4675-8601-37984577C6DC}" dt="2025-11-15T05:20:40.120" v="6159" actId="113"/>
        <pc:sldMkLst>
          <pc:docMk/>
          <pc:sldMk cId="3935598802" sldId="284"/>
        </pc:sldMkLst>
        <pc:spChg chg="mod">
          <ac:chgData name="Anand Bharadwaj" userId="e19c267242d4bc4c" providerId="LiveId" clId="{25E71196-1C13-4675-8601-37984577C6DC}" dt="2025-11-05T20:28:44.665" v="5502" actId="14100"/>
          <ac:spMkLst>
            <pc:docMk/>
            <pc:sldMk cId="3935598802" sldId="284"/>
            <ac:spMk id="5" creationId="{FCD6D557-F55C-FCF8-724F-24F663C0BCBE}"/>
          </ac:spMkLst>
        </pc:spChg>
        <pc:spChg chg="mod">
          <ac:chgData name="Anand Bharadwaj" userId="e19c267242d4bc4c" providerId="LiveId" clId="{25E71196-1C13-4675-8601-37984577C6DC}" dt="2025-11-15T05:20:40.120" v="6159" actId="113"/>
          <ac:spMkLst>
            <pc:docMk/>
            <pc:sldMk cId="3935598802" sldId="284"/>
            <ac:spMk id="12" creationId="{DEF5DA71-22E8-8644-DDAD-51C4C91CBC43}"/>
          </ac:spMkLst>
        </pc:spChg>
      </pc:sldChg>
      <pc:sldChg chg="addSp delSp modSp add mod">
        <pc:chgData name="Anand Bharadwaj" userId="e19c267242d4bc4c" providerId="LiveId" clId="{25E71196-1C13-4675-8601-37984577C6DC}" dt="2025-11-15T05:21:06.040" v="6228" actId="20577"/>
        <pc:sldMkLst>
          <pc:docMk/>
          <pc:sldMk cId="2327579296" sldId="285"/>
        </pc:sldMkLst>
        <pc:spChg chg="mod">
          <ac:chgData name="Anand Bharadwaj" userId="e19c267242d4bc4c" providerId="LiveId" clId="{25E71196-1C13-4675-8601-37984577C6DC}" dt="2025-11-05T20:29:22.851" v="5506" actId="2711"/>
          <ac:spMkLst>
            <pc:docMk/>
            <pc:sldMk cId="2327579296" sldId="285"/>
            <ac:spMk id="5" creationId="{A5AFAE24-35CB-8368-9C8B-89875ECA9CC8}"/>
          </ac:spMkLst>
        </pc:spChg>
        <pc:spChg chg="mod">
          <ac:chgData name="Anand Bharadwaj" userId="e19c267242d4bc4c" providerId="LiveId" clId="{25E71196-1C13-4675-8601-37984577C6DC}" dt="2025-11-15T05:21:06.040" v="6228" actId="20577"/>
          <ac:spMkLst>
            <pc:docMk/>
            <pc:sldMk cId="2327579296" sldId="285"/>
            <ac:spMk id="12" creationId="{A1F39F78-E0D8-9436-E31B-EB61FE72591B}"/>
          </ac:spMkLst>
        </pc:spChg>
      </pc:sldChg>
      <pc:sldChg chg="add">
        <pc:chgData name="Anand Bharadwaj" userId="e19c267242d4bc4c" providerId="LiveId" clId="{25E71196-1C13-4675-8601-37984577C6DC}" dt="2025-11-07T16:54:39.462" v="5961" actId="2890"/>
        <pc:sldMkLst>
          <pc:docMk/>
          <pc:sldMk cId="3264282817" sldId="288"/>
        </pc:sldMkLst>
      </pc:sldChg>
      <pc:sldChg chg="modSp mod">
        <pc:chgData name="Anand Bharadwaj" userId="e19c267242d4bc4c" providerId="LiveId" clId="{25E71196-1C13-4675-8601-37984577C6DC}" dt="2025-11-15T03:56:23.703" v="6113" actId="1036"/>
        <pc:sldMkLst>
          <pc:docMk/>
          <pc:sldMk cId="1489449455" sldId="289"/>
        </pc:sldMkLst>
        <pc:picChg chg="mod">
          <ac:chgData name="Anand Bharadwaj" userId="e19c267242d4bc4c" providerId="LiveId" clId="{25E71196-1C13-4675-8601-37984577C6DC}" dt="2025-11-15T03:56:23.703" v="6113" actId="1036"/>
          <ac:picMkLst>
            <pc:docMk/>
            <pc:sldMk cId="1489449455" sldId="289"/>
            <ac:picMk id="7" creationId="{425BF05D-D3BB-9EBE-124D-8CF7132A2022}"/>
          </ac:picMkLst>
        </pc:picChg>
      </pc:sldChg>
      <pc:sldChg chg="del">
        <pc:chgData name="Anand Bharadwaj" userId="e19c267242d4bc4c" providerId="LiveId" clId="{25E71196-1C13-4675-8601-37984577C6DC}" dt="2025-11-15T04:58:06.921" v="6124" actId="2696"/>
        <pc:sldMkLst>
          <pc:docMk/>
          <pc:sldMk cId="1253027383" sldId="291"/>
        </pc:sldMkLst>
      </pc:sldChg>
      <pc:sldChg chg="modSp mod">
        <pc:chgData name="Anand Bharadwaj" userId="e19c267242d4bc4c" providerId="LiveId" clId="{25E71196-1C13-4675-8601-37984577C6DC}" dt="2025-11-15T05:02:20.134" v="6133" actId="20577"/>
        <pc:sldMkLst>
          <pc:docMk/>
          <pc:sldMk cId="473853056" sldId="293"/>
        </pc:sldMkLst>
        <pc:spChg chg="mod">
          <ac:chgData name="Anand Bharadwaj" userId="e19c267242d4bc4c" providerId="LiveId" clId="{25E71196-1C13-4675-8601-37984577C6DC}" dt="2025-11-15T05:02:20.134" v="6133" actId="20577"/>
          <ac:spMkLst>
            <pc:docMk/>
            <pc:sldMk cId="473853056" sldId="293"/>
            <ac:spMk id="12" creationId="{3904D913-BC1C-087A-A6A6-A3BFA71886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3C6B4-77E7-426B-BEC1-3E098A1E41E5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4EE6C-C5FC-4EB9-B5B4-F40A40705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802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465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4EFBF-97BD-45C5-40C8-5AA3B75B8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91A35-17F2-8564-3AAB-2813E93F7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9805E-1913-EDD0-1903-53CB2FCBD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FE141-7B9D-3808-389A-F1D1B31EB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34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C655-CD2C-9363-4174-B5B0D959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46673-8E6C-312A-2700-683673312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F0998-9FAC-8D4C-1F8D-E486395BF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C130A-9B33-F8B3-20B9-9EA5BF31E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740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91F9A-1852-2E57-DEB0-11BE0B5B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A76FA-6E8D-C510-E81F-BC575E218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7ED06-9A6B-6121-B5B3-4B8DB8F95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C98A1-0985-1A3E-5E59-37078DC75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855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2A30-7BE5-8AFC-300A-928023337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20CAD-99C9-27A2-D414-B6EE3DC1A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0D15D-02DC-E22A-50BD-F67788C07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5BF7C-4D98-3418-AEBA-515186956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719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05219-7D3A-5742-5B76-6FEF619D0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22147-1640-D7B0-D90D-2D2593202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5353D-2E61-576F-2BDD-B7F904FEB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EBD5D-623E-BAF4-044B-7BB78FD0D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250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62156-0C5A-0992-C958-D3F2B06D4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90634-BF10-0095-AE72-20854097C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B064A-AB1D-B0AB-9E63-2A36FBA71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11ACD-C58E-62FF-93E8-710BEA38B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706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88096-C72E-A26A-4DD7-5258E6FDC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0402C-3463-6DBE-BF54-54FAB23F5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3DB12-F853-6FC4-6888-D5B583A9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39339-749A-F356-9B08-8F1D1C8C4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081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EE8D5-FE38-8076-0EB0-D91226BAA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80CF1-5106-1415-35E3-15A424B9A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AFAFB-FA2F-210F-3A02-D8D21E171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66B3E-ED07-B432-FE10-639E0F4C7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798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3B463-53C6-73BF-371B-E9F7C2921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E895D-542D-F8CF-ABB3-06AB4A2C3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99D46-5D04-80E6-DCEA-A10C76A13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2C1FF-F250-CEC1-1716-9714C08AE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337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A907-172C-6F60-1DA7-FA7FFA5A5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0654D-B3AA-6801-9757-435D4F878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D27A1-3436-337D-43C5-2948FBC88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93E6C-3065-A6F7-1741-9B48C2376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857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5701C-73B9-8D1B-8750-B9B749BFB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20463-6052-5E6A-40F3-3E3AB338C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5FCBD-914C-063D-AE94-5F49A479B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E6460-7CDF-A246-C941-65E7FACEE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620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67E1-3D5D-CB79-2520-F66C1B22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08C31B-3E79-5375-8023-BF6108D62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247CA-328A-643A-5544-798BCA3B6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DD70B-D23F-D773-02A7-CC6C75860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522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AEC8-DACD-38E9-0279-9578FEA95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98031-5EAE-DE28-9D50-56177D33A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7CEC5-89E8-BB52-B08B-89072C359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2AD85-E238-C76B-53BF-F878F7EC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80056-5858-3DBF-24B4-0C564621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99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542E-E979-61FA-27F0-45636353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E1310-3410-C6A4-7609-00A23E56E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62A4D-1BB4-80EA-CD83-359DF3AE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FF91C-62B5-F30C-3F7F-5E22DC8B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BC8D9-14EC-B42B-A391-179204B4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80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2A83-26BA-9078-FE6B-E64799449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71623-34EA-5FB9-AA47-9BDFE36FF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33533-03F8-C6D3-13A7-F362DC66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73944-C4A7-8C5D-9B7D-F1BAB7AF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EB33A-939A-EC28-B5B9-187A0DDE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025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3E402-C969-CEB1-8691-3F9F0546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A97C-40CC-9E45-2FAC-133E2243E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33290-6F10-60AA-01D4-3FDCFFFD6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E122A-3C13-A7A9-1D66-08864916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5B44-D8D8-CFE2-DA81-953815E5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6C89E-B4BC-46E9-2C95-D97D3EBD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37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6841D-C341-B706-5E79-9B37A153F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648EA-F4BA-4449-8394-60B851AC0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11C5F-9923-F976-8908-23D23218E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CEF91D-AB53-0707-4BFE-D0D7E9992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2131F-0508-B0FA-0F56-C06067364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075CD3-4B84-B7E1-1FC8-A78904526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58E7C-8C32-C1C1-E070-4C52C8DFD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E1AD52-160D-E5DE-BF03-70819B44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67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2C68-4524-7DC3-5DAD-E9D4505B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04BA1-67FB-861A-2D14-68A43CF9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DC8CF0-3F21-1A87-19EB-A0128D396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FCBAA-CB2E-5AEE-57AD-38CB3122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43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BA83E-D2AA-802B-376D-B6B4BA91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BC54-3A66-4755-2C75-4D129CF5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277DC-E43E-E5D6-50E7-D7E67E231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209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5F6D-B2B1-7602-063F-917002254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76035-6EA2-700C-18E7-1375A8632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CA97D-8292-AD3D-23AE-E6D53A2BD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F9045-624F-9123-5AAB-65B23A8C9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25640-8CC0-00B8-BEE3-7D8E95002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2A78E-CB02-2823-3BF9-A9191587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036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328D-E4ED-CFB1-7981-0367ECC26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8CCA9-45A8-CB98-0E98-BFD38F153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8EBF-0950-38BD-F764-0485476FF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3EF9C-5790-2CAE-12BB-973573B6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5FD75-0ED5-3547-A45A-F6BB7CE4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ADBA1-6C59-574D-E489-94EFF43E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76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44E8-A276-5AC0-2072-A3E70200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96190-8E9D-3E61-E374-A9409F8D2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A47B9-2C7E-62B9-4173-8EA0334F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79514-6518-D220-A852-997DCCCE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81ECE-1E73-53C9-5106-6C31BD33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64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D54DB-333A-B3BF-4577-604A3242B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380FF-57A0-C2B4-7D2C-057023F5C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86ABD-F84F-AD71-9443-D4E1DE98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85AEC-EABC-2182-B4EC-0E2A58642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98FA7-C4CF-78BC-7572-8DC21CC1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523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5348FC-CB89-A4D6-D9D1-8CE4BEC7B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B85A8-6932-C35F-E184-EF6F88393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D7EDD-0B74-D6B8-9F75-531461072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04680-8C7E-456D-A7C6-2948968C2A3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27C9C-AE44-F323-FB7B-1DA1C1405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10167-5696-D8BB-CCB8-89BE5C8C73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118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148434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35923" y="3094903"/>
            <a:ext cx="11920152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IN" sz="3600" b="1" dirty="0">
              <a:latin typeface="Consolas" panose="020B0609020204030204" pitchFamily="49" charset="0"/>
            </a:endParaRPr>
          </a:p>
          <a:p>
            <a:endParaRPr lang="en-IN" dirty="0"/>
          </a:p>
          <a:p>
            <a:pPr algn="ctr"/>
            <a:r>
              <a:rPr lang="en-IN" sz="2800" b="1">
                <a:latin typeface="Consolas" panose="020B0609020204030204" pitchFamily="49" charset="0"/>
              </a:rPr>
              <a:t>GLOBAL ELECTRIC </a:t>
            </a:r>
            <a:r>
              <a:rPr lang="en-IN" sz="2800" b="1" dirty="0">
                <a:latin typeface="Consolas" panose="020B0609020204030204" pitchFamily="49" charset="0"/>
              </a:rPr>
              <a:t>VEHCILES SALES ANALYSIS </a:t>
            </a:r>
            <a:endParaRPr lang="en-IN" sz="2800" dirty="0">
              <a:latin typeface="Consolas" panose="020B0609020204030204" pitchFamily="49" charset="0"/>
            </a:endParaRPr>
          </a:p>
          <a:p>
            <a:pPr algn="ctr"/>
            <a:r>
              <a:rPr lang="en-IN" dirty="0"/>
              <a:t> </a:t>
            </a:r>
            <a:endParaRPr sz="3600" b="1" i="0" u="none" strike="noStrike" cap="none" dirty="0">
              <a:solidFill>
                <a:srgbClr val="000000"/>
              </a:solidFill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6B0273-7DC8-DA1D-CE1F-C9866D0B055E}"/>
              </a:ext>
            </a:extLst>
          </p:cNvPr>
          <p:cNvSpPr txBox="1"/>
          <p:nvPr/>
        </p:nvSpPr>
        <p:spPr>
          <a:xfrm>
            <a:off x="6096000" y="4744995"/>
            <a:ext cx="44896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Innomatics Research Labs – Dilsukhnagar</a:t>
            </a:r>
          </a:p>
          <a:p>
            <a:r>
              <a:rPr lang="en-IN" dirty="0">
                <a:latin typeface="Consolas" panose="020B0609020204030204" pitchFamily="49" charset="0"/>
              </a:rPr>
              <a:t>Batch No : 403</a:t>
            </a:r>
          </a:p>
          <a:p>
            <a:r>
              <a:rPr lang="en-IN" dirty="0">
                <a:latin typeface="Consolas" panose="020B0609020204030204" pitchFamily="49" charset="0"/>
              </a:rPr>
              <a:t>Meduri V S Anand Bharadwaj</a:t>
            </a:r>
          </a:p>
          <a:p>
            <a:r>
              <a:rPr lang="en-IN" dirty="0">
                <a:latin typeface="Consolas" panose="020B0609020204030204" pitchFamily="49" charset="0"/>
              </a:rPr>
              <a:t>Melluri Vamshi Krishna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07C30-3FF6-E7D7-188F-B8A0526BA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A172F-9572-F0AE-AAD7-9E02016B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67" y="57349"/>
            <a:ext cx="5807676" cy="1034166"/>
          </a:xfrm>
        </p:spPr>
        <p:txBody>
          <a:bodyPr>
            <a:normAutofit/>
          </a:bodyPr>
          <a:lstStyle/>
          <a:p>
            <a:r>
              <a:rPr lang="en-IN" b="1" dirty="0">
                <a:latin typeface="Consolas" panose="020B0609020204030204" pitchFamily="49" charset="0"/>
              </a:rPr>
              <a:t>Contents:</a:t>
            </a:r>
            <a:endParaRPr lang="en-IN" sz="4000" b="1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B42892-F075-37B4-CEBC-71B5AF71EDD0}"/>
              </a:ext>
            </a:extLst>
          </p:cNvPr>
          <p:cNvSpPr txBox="1"/>
          <p:nvPr/>
        </p:nvSpPr>
        <p:spPr>
          <a:xfrm>
            <a:off x="378941" y="1690688"/>
            <a:ext cx="11532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6FA33-878C-703C-ABA6-EC363183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497" y="6260757"/>
            <a:ext cx="3575221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5E0501-00A5-D091-38E3-B13BA37808BE}"/>
              </a:ext>
            </a:extLst>
          </p:cNvPr>
          <p:cNvSpPr txBox="1"/>
          <p:nvPr/>
        </p:nvSpPr>
        <p:spPr>
          <a:xfrm>
            <a:off x="675503" y="1091515"/>
            <a:ext cx="79083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Consolas" panose="020B0609020204030204" pitchFamily="49" charset="0"/>
              </a:rPr>
              <a:t> Problem Statement</a:t>
            </a:r>
          </a:p>
          <a:p>
            <a:endParaRPr lang="en-IN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Consolas" panose="020B0609020204030204" pitchFamily="49" charset="0"/>
              </a:rPr>
              <a:t> Summary of the Data</a:t>
            </a:r>
          </a:p>
          <a:p>
            <a:endParaRPr lang="en-IN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Consolas" panose="020B0609020204030204" pitchFamily="49" charset="0"/>
              </a:rPr>
              <a:t> Data Visualizations.</a:t>
            </a:r>
          </a:p>
          <a:p>
            <a:endParaRPr lang="en-IN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Consolas" panose="020B0609020204030204" pitchFamily="49" charset="0"/>
              </a:rPr>
              <a:t> Conclusion</a:t>
            </a:r>
          </a:p>
          <a:p>
            <a:endParaRPr lang="en-IN" sz="2400" dirty="0">
              <a:latin typeface="Consolas" panose="020B0609020204030204" pitchFamily="49" charset="0"/>
            </a:endParaRPr>
          </a:p>
          <a:p>
            <a:endParaRPr lang="en-IN" sz="2400" dirty="0">
              <a:latin typeface="Consolas" panose="020B0609020204030204" pitchFamily="49" charset="0"/>
            </a:endParaRPr>
          </a:p>
          <a:p>
            <a:endParaRPr lang="en-I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58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85C3-4501-3386-B2D5-3327998D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53" y="134466"/>
            <a:ext cx="8081319" cy="59870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onsolas" panose="020B0609020204030204" pitchFamily="49" charset="0"/>
              </a:rPr>
              <a:t>Problem Statement: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AAAD7-1685-FC1C-39CC-19068B2BA8D0}"/>
              </a:ext>
            </a:extLst>
          </p:cNvPr>
          <p:cNvSpPr txBox="1"/>
          <p:nvPr/>
        </p:nvSpPr>
        <p:spPr>
          <a:xfrm>
            <a:off x="378941" y="1690688"/>
            <a:ext cx="11532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3B2886-74C4-4FA0-26AA-92CE9A379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33B007-2882-B9F8-D35B-35A5F6590CAC}"/>
              </a:ext>
            </a:extLst>
          </p:cNvPr>
          <p:cNvSpPr txBox="1"/>
          <p:nvPr/>
        </p:nvSpPr>
        <p:spPr>
          <a:xfrm>
            <a:off x="98853" y="1095632"/>
            <a:ext cx="117883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>
                <a:latin typeface="Consolas" panose="020B0609020204030204" pitchFamily="49" charset="0"/>
              </a:rPr>
              <a:t>EV adoption is growing worldwide, but not at the same speed everywhere. Our goal was to understand who is leading, which EV types are popular, and how EV usage has changed.</a:t>
            </a:r>
          </a:p>
          <a:p>
            <a:pPr fontAlgn="base"/>
            <a:endParaRPr lang="en-US" sz="2400" dirty="0">
              <a:latin typeface="Consolas" panose="020B0609020204030204" pitchFamily="49" charset="0"/>
            </a:endParaRPr>
          </a:p>
          <a:p>
            <a:pPr fontAlgn="base"/>
            <a:r>
              <a:rPr lang="en-US" sz="2400" dirty="0">
                <a:latin typeface="Consolas" panose="020B0609020204030204" pitchFamily="49" charset="0"/>
              </a:rPr>
              <a:t>This Power BI project visualizes global EV data to find top-performing regions, fast-growing technologies, and overall market trends.</a:t>
            </a:r>
          </a:p>
        </p:txBody>
      </p:sp>
    </p:spTree>
    <p:extLst>
      <p:ext uri="{BB962C8B-B14F-4D97-AF65-F5344CB8AC3E}">
        <p14:creationId xmlns:p14="http://schemas.microsoft.com/office/powerpoint/2010/main" val="185832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61FAB-9184-CA9F-84FD-9114AB0D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DF5E5F-53E7-7FAD-D294-8136A396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4" y="151936"/>
            <a:ext cx="8221362" cy="62242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onsolas" panose="020B0609020204030204" pitchFamily="49" charset="0"/>
              </a:rPr>
              <a:t>Summary of the Data:</a:t>
            </a:r>
            <a:endParaRPr lang="en-IN" sz="32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114AFE-2F1F-4964-184B-7761C4997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0F16B0-EA58-05F0-D48C-64805A4A384D}"/>
              </a:ext>
            </a:extLst>
          </p:cNvPr>
          <p:cNvSpPr txBox="1"/>
          <p:nvPr/>
        </p:nvSpPr>
        <p:spPr>
          <a:xfrm>
            <a:off x="325394" y="774357"/>
            <a:ext cx="1154121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Consolas" panose="020B0609020204030204" pitchFamily="49" charset="0"/>
              </a:rPr>
              <a:t>Column Name</a:t>
            </a:r>
            <a:r>
              <a:rPr lang="en-IN" b="1" dirty="0">
                <a:latin typeface="Consolas" panose="020B0609020204030204" pitchFamily="49" charset="0"/>
              </a:rPr>
              <a:t>          	</a:t>
            </a:r>
            <a:r>
              <a:rPr lang="en-IN" b="1" u="sng" dirty="0">
                <a:latin typeface="Consolas" panose="020B0609020204030204" pitchFamily="49" charset="0"/>
              </a:rPr>
              <a:t>Description</a:t>
            </a:r>
            <a:r>
              <a:rPr lang="en-IN" b="1" dirty="0">
                <a:latin typeface="Consolas" panose="020B0609020204030204" pitchFamily="49" charset="0"/>
              </a:rPr>
              <a:t>                                                       	</a:t>
            </a:r>
          </a:p>
          <a:p>
            <a:r>
              <a:rPr lang="en-US" dirty="0">
                <a:latin typeface="Consolas" panose="020B0609020204030204" pitchFamily="49" charset="0"/>
              </a:rPr>
              <a:t>● </a:t>
            </a:r>
            <a:r>
              <a:rPr lang="en-US" b="1" dirty="0">
                <a:latin typeface="Consolas" panose="020B0609020204030204" pitchFamily="49" charset="0"/>
              </a:rPr>
              <a:t>Region      </a:t>
            </a:r>
            <a:r>
              <a:rPr lang="en-US" dirty="0">
                <a:latin typeface="Consolas" panose="020B0609020204030204" pitchFamily="49" charset="0"/>
              </a:rPr>
              <a:t>– The geographic region or country where the EV data is reported.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● </a:t>
            </a:r>
            <a:r>
              <a:rPr lang="en-US" b="1" dirty="0">
                <a:latin typeface="Consolas" panose="020B0609020204030204" pitchFamily="49" charset="0"/>
              </a:rPr>
              <a:t>Category    </a:t>
            </a:r>
            <a:r>
              <a:rPr lang="en-US" dirty="0">
                <a:latin typeface="Consolas" panose="020B0609020204030204" pitchFamily="49" charset="0"/>
              </a:rPr>
              <a:t>– The type of vehicle (e.g., cars, buses, 2-wheelers, trucks).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● </a:t>
            </a:r>
            <a:r>
              <a:rPr lang="en-US" b="1" dirty="0">
                <a:latin typeface="Consolas" panose="020B0609020204030204" pitchFamily="49" charset="0"/>
              </a:rPr>
              <a:t>Parameter   </a:t>
            </a:r>
            <a:r>
              <a:rPr lang="en-US" dirty="0">
                <a:latin typeface="Consolas" panose="020B0609020204030204" pitchFamily="49" charset="0"/>
              </a:rPr>
              <a:t>– The measured metric (e.g., stock, sales, energy use).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fr-FR" dirty="0">
                <a:latin typeface="Consolas" panose="020B0609020204030204" pitchFamily="49" charset="0"/>
              </a:rPr>
              <a:t>● </a:t>
            </a:r>
            <a:r>
              <a:rPr lang="fr-FR" b="1" dirty="0">
                <a:latin typeface="Consolas" panose="020B0609020204030204" pitchFamily="49" charset="0"/>
              </a:rPr>
              <a:t>Mode        </a:t>
            </a:r>
            <a:r>
              <a:rPr lang="fr-FR" dirty="0">
                <a:latin typeface="Consolas" panose="020B0609020204030204" pitchFamily="49" charset="0"/>
              </a:rPr>
              <a:t>– The transport mode (e.g., road, rail, etc.). </a:t>
            </a:r>
          </a:p>
          <a:p>
            <a:endParaRPr lang="fr-FR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● </a:t>
            </a:r>
            <a:r>
              <a:rPr lang="en-US" b="1" dirty="0">
                <a:latin typeface="Consolas" panose="020B0609020204030204" pitchFamily="49" charset="0"/>
              </a:rPr>
              <a:t>Powertrain  </a:t>
            </a:r>
            <a:r>
              <a:rPr lang="en-US" dirty="0">
                <a:latin typeface="Consolas" panose="020B0609020204030204" pitchFamily="49" charset="0"/>
              </a:rPr>
              <a:t>– The type of EV drivetrain (e.g., BEV, PHEV, FCEV).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● </a:t>
            </a:r>
            <a:r>
              <a:rPr lang="en-US" b="1" dirty="0">
                <a:latin typeface="Consolas" panose="020B0609020204030204" pitchFamily="49" charset="0"/>
              </a:rPr>
              <a:t>Year        </a:t>
            </a:r>
            <a:r>
              <a:rPr lang="en-US" dirty="0">
                <a:latin typeface="Consolas" panose="020B0609020204030204" pitchFamily="49" charset="0"/>
              </a:rPr>
              <a:t>– The calendar year for which the data is recorded.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● </a:t>
            </a:r>
            <a:r>
              <a:rPr lang="en-US" b="1" dirty="0">
                <a:latin typeface="Consolas" panose="020B0609020204030204" pitchFamily="49" charset="0"/>
              </a:rPr>
              <a:t>Unit        </a:t>
            </a:r>
            <a:r>
              <a:rPr lang="en-US" dirty="0">
                <a:latin typeface="Consolas" panose="020B0609020204030204" pitchFamily="49" charset="0"/>
              </a:rPr>
              <a:t>– The unit of measurement (e.g., number of vehicles, TWh).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● </a:t>
            </a:r>
            <a:r>
              <a:rPr lang="en-US" b="1" dirty="0">
                <a:latin typeface="Consolas" panose="020B0609020204030204" pitchFamily="49" charset="0"/>
              </a:rPr>
              <a:t>Value       </a:t>
            </a:r>
            <a:r>
              <a:rPr lang="en-US" dirty="0">
                <a:latin typeface="Consolas" panose="020B0609020204030204" pitchFamily="49" charset="0"/>
              </a:rPr>
              <a:t>– The numeric value of the recorded parameter. </a:t>
            </a:r>
          </a:p>
        </p:txBody>
      </p:sp>
    </p:spTree>
    <p:extLst>
      <p:ext uri="{BB962C8B-B14F-4D97-AF65-F5344CB8AC3E}">
        <p14:creationId xmlns:p14="http://schemas.microsoft.com/office/powerpoint/2010/main" val="222648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FB752-FE44-7CE8-2CD3-D56350FE8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4882B6-2540-AA18-A496-862353CAD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D4CB1F-2870-B686-7BBE-1C8DFCC2C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5EF7BD-00CF-FF94-2913-608B6CEA41A1}"/>
              </a:ext>
            </a:extLst>
          </p:cNvPr>
          <p:cNvSpPr txBox="1"/>
          <p:nvPr/>
        </p:nvSpPr>
        <p:spPr>
          <a:xfrm>
            <a:off x="140043" y="774357"/>
            <a:ext cx="4744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Key Performance Indicators KPI’S:</a:t>
            </a:r>
            <a:endParaRPr lang="en-IN" b="1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ED6C6C-0297-0879-7367-5C2EAED92201}"/>
              </a:ext>
            </a:extLst>
          </p:cNvPr>
          <p:cNvSpPr txBox="1"/>
          <p:nvPr/>
        </p:nvSpPr>
        <p:spPr>
          <a:xfrm>
            <a:off x="205946" y="4464231"/>
            <a:ext cx="117801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Total EV Sales</a:t>
            </a:r>
            <a:r>
              <a:rPr lang="en-US" dirty="0">
                <a:latin typeface="Consolas" panose="020B0609020204030204" pitchFamily="49" charset="0"/>
              </a:rPr>
              <a:t>: The current recorded total EV sales are 107.2 millions.</a:t>
            </a:r>
          </a:p>
          <a:p>
            <a:r>
              <a:rPr lang="en-US" b="1" dirty="0">
                <a:latin typeface="Consolas" panose="020B0609020204030204" pitchFamily="49" charset="0"/>
              </a:rPr>
              <a:t>YoY Sales Growth %: </a:t>
            </a:r>
            <a:r>
              <a:rPr lang="en-US" dirty="0">
                <a:latin typeface="Consolas" panose="020B0609020204030204" pitchFamily="49" charset="0"/>
              </a:rPr>
              <a:t>The Year-over-Year (YoY) sales growth percentage 3.1%. This indicates a moderate rate of sales growth compared to the previous year.</a:t>
            </a:r>
          </a:p>
          <a:p>
            <a:r>
              <a:rPr lang="en-US" b="1" dirty="0">
                <a:latin typeface="Consolas" panose="020B0609020204030204" pitchFamily="49" charset="0"/>
              </a:rPr>
              <a:t>Total EV Stocks: </a:t>
            </a:r>
            <a:r>
              <a:rPr lang="en-US" dirty="0">
                <a:latin typeface="Consolas" panose="020B0609020204030204" pitchFamily="49" charset="0"/>
              </a:rPr>
              <a:t>The total EV stock (inventory or existing vehicles) is 304.44 millions.</a:t>
            </a:r>
          </a:p>
          <a:p>
            <a:r>
              <a:rPr lang="en-US" b="1" dirty="0">
                <a:latin typeface="Consolas" panose="020B0609020204030204" pitchFamily="49" charset="0"/>
              </a:rPr>
              <a:t>Peak Sales Year: </a:t>
            </a:r>
            <a:r>
              <a:rPr lang="en-US" dirty="0">
                <a:latin typeface="Consolas" panose="020B0609020204030204" pitchFamily="49" charset="0"/>
              </a:rPr>
              <a:t>The year with the highest recorded sales was 2023.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AF8466-74AE-3A7E-D276-C1847ADCA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327" y="1273139"/>
            <a:ext cx="4582164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05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22BB2-8031-A9B9-DF23-73139CB1E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4A2F6B-75B4-38C2-1DAB-ABD638670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78DD94-A39F-04A0-2D9B-802EC5FE3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DC1791-C2FF-5DF3-60A9-D8707737EA6E}"/>
              </a:ext>
            </a:extLst>
          </p:cNvPr>
          <p:cNvSpPr txBox="1"/>
          <p:nvPr/>
        </p:nvSpPr>
        <p:spPr>
          <a:xfrm>
            <a:off x="65902" y="312692"/>
            <a:ext cx="11089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US" dirty="0">
                <a:latin typeface="Consolas" panose="020B0609020204030204" pitchFamily="49" charset="0"/>
              </a:rPr>
              <a:t> What are the top 5 regions contributing most to EV adoption in the latest year?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E7D8C-DB12-660D-962A-E69CDD4F05F8}"/>
              </a:ext>
            </a:extLst>
          </p:cNvPr>
          <p:cNvSpPr txBox="1"/>
          <p:nvPr/>
        </p:nvSpPr>
        <p:spPr>
          <a:xfrm>
            <a:off x="289458" y="4850468"/>
            <a:ext cx="1030440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Insights: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Consolas" panose="020B0609020204030204" pitchFamily="49" charset="0"/>
              </a:rPr>
              <a:t>China</a:t>
            </a:r>
            <a:r>
              <a:rPr lang="en-US" sz="1600" dirty="0">
                <a:latin typeface="Consolas" panose="020B0609020204030204" pitchFamily="49" charset="0"/>
              </a:rPr>
              <a:t> leads with 0.10bn </a:t>
            </a:r>
            <a:r>
              <a:rPr lang="en-IN" sz="1600" b="1" dirty="0"/>
              <a:t>100,000 million </a:t>
            </a:r>
            <a:r>
              <a:rPr lang="en-US" sz="1600" dirty="0">
                <a:latin typeface="Consolas" panose="020B0609020204030204" pitchFamily="49" charset="0"/>
              </a:rPr>
              <a:t>, showing dominant individual performance.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latin typeface="Consolas" panose="020B0609020204030204" pitchFamily="49" charset="0"/>
              </a:rPr>
              <a:t>Europe union </a:t>
            </a:r>
            <a:r>
              <a:rPr lang="en-US" sz="1600" dirty="0">
                <a:latin typeface="Consolas" panose="020B0609020204030204" pitchFamily="49" charset="0"/>
              </a:rPr>
              <a:t>together contribute 0.09bn </a:t>
            </a:r>
            <a:r>
              <a:rPr lang="en-IN" sz="1600" b="1" dirty="0">
                <a:latin typeface="Consolas" panose="020B0609020204030204" pitchFamily="49" charset="0"/>
              </a:rPr>
              <a:t>90,000 million</a:t>
            </a:r>
            <a:r>
              <a:rPr lang="en-US" sz="1600" dirty="0">
                <a:latin typeface="Consolas" panose="020B0609020204030204" pitchFamily="49" charset="0"/>
              </a:rPr>
              <a:t>, indicating strong regional presence.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latin typeface="Consolas" panose="020B0609020204030204" pitchFamily="49" charset="0"/>
              </a:rPr>
              <a:t>USA </a:t>
            </a:r>
            <a:r>
              <a:rPr lang="en-US" sz="1600" dirty="0">
                <a:latin typeface="Consolas" panose="020B0609020204030204" pitchFamily="49" charset="0"/>
              </a:rPr>
              <a:t>trails with 0.02bn </a:t>
            </a:r>
            <a:r>
              <a:rPr lang="en-IN" sz="1600" b="1" dirty="0">
                <a:latin typeface="Consolas" panose="020B0609020204030204" pitchFamily="49" charset="0"/>
              </a:rPr>
              <a:t>20,000 million</a:t>
            </a:r>
            <a:r>
              <a:rPr lang="en-US" sz="1600" dirty="0">
                <a:latin typeface="Consolas" panose="020B0609020204030204" pitchFamily="49" charset="0"/>
              </a:rPr>
              <a:t>, suggesting lower impact in this metric.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Consolas" panose="020B0609020204030204" pitchFamily="49" charset="0"/>
              </a:rPr>
              <a:t> Other countries like Germany, France, UK, and Japan each contribute ≤0.01bn, highlighting a steep drop-off beyond the top few .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E829DE-81A7-2DFD-5E3D-2C457E952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096" y="1396778"/>
            <a:ext cx="6307568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21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72334-9F67-EA69-5C35-EAAD5FD6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C2DBAA-5078-5F9D-6636-99FCD16B9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DE0274-920F-2D94-677F-03CB6DC07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1BF68C-877E-C984-B6A9-04491D1420E2}"/>
              </a:ext>
            </a:extLst>
          </p:cNvPr>
          <p:cNvSpPr txBox="1"/>
          <p:nvPr/>
        </p:nvSpPr>
        <p:spPr>
          <a:xfrm>
            <a:off x="140041" y="346811"/>
            <a:ext cx="1168897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US" sz="1600" dirty="0">
                <a:latin typeface="Consolas" panose="020B0609020204030204" pitchFamily="49" charset="0"/>
              </a:rPr>
              <a:t> What is the total EV value by region over the years, Which region has shown the highest EV growth over time?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ACD7A9-F057-3315-F578-E8F0CA729368}"/>
              </a:ext>
            </a:extLst>
          </p:cNvPr>
          <p:cNvSpPr txBox="1"/>
          <p:nvPr/>
        </p:nvSpPr>
        <p:spPr>
          <a:xfrm>
            <a:off x="140042" y="4825530"/>
            <a:ext cx="103044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Insights: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 dirty="0">
                <a:latin typeface="Consolas" panose="020B0609020204030204" pitchFamily="49" charset="0"/>
              </a:rPr>
              <a:t>Australia shows both high investment and high adoption, making it a standout EV market. 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Consolas" panose="020B0609020204030204" pitchFamily="49" charset="0"/>
              </a:rPr>
              <a:t>Belgium and Austria are fast followers, while Brazil and Bulgaria are developing markets with potential.</a:t>
            </a:r>
          </a:p>
          <a:p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13" name="Picture 12" descr="A graph of different types of evs&#10;&#10;AI-generated content may be incorrect.">
            <a:extLst>
              <a:ext uri="{FF2B5EF4-FFF2-40B4-BE49-F238E27FC236}">
                <a16:creationId xmlns:a16="http://schemas.microsoft.com/office/drawing/2014/main" id="{F0C28281-3377-DBD1-45B1-B5BDEA59E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782" y="1371193"/>
            <a:ext cx="9107171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282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5D78-4A0B-3CCB-40B6-551C845E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FB198D-7CB5-CCFD-ABA4-CA0985C6F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A53DD7-DEF1-7525-0011-00765E926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EF986E-E3B0-2D57-BCD6-5A040A8E53A2}"/>
              </a:ext>
            </a:extLst>
          </p:cNvPr>
          <p:cNvSpPr txBox="1"/>
          <p:nvPr/>
        </p:nvSpPr>
        <p:spPr>
          <a:xfrm>
            <a:off x="0" y="151936"/>
            <a:ext cx="111895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US" dirty="0">
                <a:latin typeface="Consolas" panose="020B0609020204030204" pitchFamily="49" charset="0"/>
              </a:rPr>
              <a:t> How does EV penetration differ between categories (e.g., car, bus, truck) by region?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6B699B-4B1E-5CBB-F378-29F8DFF5FA87}"/>
              </a:ext>
            </a:extLst>
          </p:cNvPr>
          <p:cNvSpPr txBox="1"/>
          <p:nvPr/>
        </p:nvSpPr>
        <p:spPr>
          <a:xfrm>
            <a:off x="65902" y="4292324"/>
            <a:ext cx="117801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>
                <a:latin typeface="Consolas" panose="020B0609020204030204" pitchFamily="49" charset="0"/>
              </a:rPr>
              <a:t>Insights 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onsolas" panose="020B0609020204030204" pitchFamily="49" charset="0"/>
              </a:rPr>
              <a:t>Cars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are the leading category across nearly all regions, especially in </a:t>
            </a:r>
            <a:r>
              <a:rPr lang="en-US" b="1" dirty="0"/>
              <a:t>China, Europe, EU27, USA, and Germany </a:t>
            </a:r>
            <a:r>
              <a:rPr lang="en-US" dirty="0"/>
              <a:t>indicating strong consumer EV adoption.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onsolas" panose="020B0609020204030204" pitchFamily="49" charset="0"/>
              </a:rPr>
              <a:t>Korea</a:t>
            </a:r>
            <a:r>
              <a:rPr lang="en-US" dirty="0">
                <a:latin typeface="Consolas" panose="020B0609020204030204" pitchFamily="49" charset="0"/>
              </a:rPr>
              <a:t> stands out with a more balanced mix, including a significant share of </a:t>
            </a:r>
            <a:r>
              <a:rPr lang="en-US" b="1" dirty="0">
                <a:latin typeface="Consolas" panose="020B0609020204030204" pitchFamily="49" charset="0"/>
              </a:rPr>
              <a:t>Vans and Buses </a:t>
            </a:r>
            <a:r>
              <a:rPr lang="en-US" dirty="0">
                <a:latin typeface="Consolas" panose="020B0609020204030204" pitchFamily="49" charset="0"/>
              </a:rPr>
              <a:t>suggesting broader fleet electrification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2C9BDD-6DE7-A778-6A16-696C9C743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938" y="1104974"/>
            <a:ext cx="6425738" cy="278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16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71926-B79E-D880-17CE-3978BF0CE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4654B8-5269-734D-87F5-BA85C2897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EB04A5-6475-6694-815D-5FA3BEB5D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D6D557-F55C-FCF8-724F-24F663C0BCBE}"/>
              </a:ext>
            </a:extLst>
          </p:cNvPr>
          <p:cNvSpPr txBox="1"/>
          <p:nvPr/>
        </p:nvSpPr>
        <p:spPr>
          <a:xfrm>
            <a:off x="18646" y="151936"/>
            <a:ext cx="8147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US" dirty="0"/>
              <a:t> What is the distribution of </a:t>
            </a:r>
            <a:r>
              <a:rPr lang="en-US" dirty="0">
                <a:latin typeface="Consolas" panose="020B0609020204030204" pitchFamily="49" charset="0"/>
              </a:rPr>
              <a:t>EVs</a:t>
            </a:r>
            <a:r>
              <a:rPr lang="en-US" dirty="0"/>
              <a:t> by powertrain (BEV, PHEV, FCEV, etc.)?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F5DA71-22E8-8644-DDAD-51C4C91CBC43}"/>
              </a:ext>
            </a:extLst>
          </p:cNvPr>
          <p:cNvSpPr txBox="1"/>
          <p:nvPr/>
        </p:nvSpPr>
        <p:spPr>
          <a:xfrm>
            <a:off x="205946" y="3785247"/>
            <a:ext cx="11780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onsolas" panose="020B0609020204030204" pitchFamily="49" charset="0"/>
              </a:rPr>
              <a:t>BEVs</a:t>
            </a:r>
            <a:r>
              <a:rPr lang="en-US" dirty="0">
                <a:latin typeface="Consolas" panose="020B0609020204030204" pitchFamily="49" charset="0"/>
              </a:rPr>
              <a:t> dominate the market, making </a:t>
            </a:r>
            <a:r>
              <a:rPr lang="en-US" b="1" dirty="0">
                <a:latin typeface="Consolas" panose="020B0609020204030204" pitchFamily="49" charset="0"/>
              </a:rPr>
              <a:t>to 28% </a:t>
            </a:r>
            <a:r>
              <a:rPr lang="en-US" dirty="0">
                <a:latin typeface="Consolas" panose="020B0609020204030204" pitchFamily="49" charset="0"/>
              </a:rPr>
              <a:t>of total powertrains.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onsolas" panose="020B0609020204030204" pitchFamily="49" charset="0"/>
              </a:rPr>
              <a:t>PHEVs</a:t>
            </a:r>
            <a:r>
              <a:rPr lang="en-US" dirty="0">
                <a:latin typeface="Consolas" panose="020B0609020204030204" pitchFamily="49" charset="0"/>
              </a:rPr>
              <a:t> hold a </a:t>
            </a:r>
            <a:r>
              <a:rPr lang="en-US" b="1" dirty="0">
                <a:latin typeface="Consolas" panose="020B0609020204030204" pitchFamily="49" charset="0"/>
              </a:rPr>
              <a:t>moderate share 17%, </a:t>
            </a:r>
            <a:r>
              <a:rPr lang="en-US" dirty="0">
                <a:latin typeface="Consolas" panose="020B0609020204030204" pitchFamily="49" charset="0"/>
              </a:rPr>
              <a:t>while </a:t>
            </a:r>
            <a:r>
              <a:rPr lang="en-US" b="1" dirty="0">
                <a:latin typeface="Consolas" panose="020B0609020204030204" pitchFamily="49" charset="0"/>
              </a:rPr>
              <a:t>FCEVs</a:t>
            </a:r>
            <a:r>
              <a:rPr lang="en-US" dirty="0">
                <a:latin typeface="Consolas" panose="020B0609020204030204" pitchFamily="49" charset="0"/>
              </a:rPr>
              <a:t> remain niche </a:t>
            </a:r>
            <a:r>
              <a:rPr lang="en-US" b="1" dirty="0">
                <a:latin typeface="Consolas" panose="020B0609020204030204" pitchFamily="49" charset="0"/>
              </a:rPr>
              <a:t>at 10%, </a:t>
            </a:r>
            <a:r>
              <a:rPr lang="en-US" dirty="0">
                <a:latin typeface="Consolas" panose="020B0609020204030204" pitchFamily="49" charset="0"/>
              </a:rPr>
              <a:t>reflecting limited adoption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8C9A27-80C3-2E43-52C2-2631FBAF7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884" y="1214278"/>
            <a:ext cx="5960225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98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DE7D7-2540-C7A1-21DD-6002327E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667E86-7077-E0C7-ACBB-4ABD1B334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74E19-DBD9-C298-1295-4147EAE7A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AFAE24-35CB-8368-9C8B-89875ECA9CC8}"/>
              </a:ext>
            </a:extLst>
          </p:cNvPr>
          <p:cNvSpPr txBox="1"/>
          <p:nvPr/>
        </p:nvSpPr>
        <p:spPr>
          <a:xfrm>
            <a:off x="65902" y="211619"/>
            <a:ext cx="10358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US" dirty="0">
                <a:latin typeface="Consolas" panose="020B0609020204030204" pitchFamily="49" charset="0"/>
              </a:rPr>
              <a:t> What is the share of different modes (road, rail, etc.) by powertrain type?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F39F78-E0D8-9436-E31B-EB61FE72591B}"/>
              </a:ext>
            </a:extLst>
          </p:cNvPr>
          <p:cNvSpPr txBox="1"/>
          <p:nvPr/>
        </p:nvSpPr>
        <p:spPr>
          <a:xfrm>
            <a:off x="205946" y="3785247"/>
            <a:ext cx="117801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Insight:</a:t>
            </a: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onsolas" panose="020B0609020204030204" pitchFamily="49" charset="0"/>
              </a:rPr>
              <a:t>BEV &amp; PHEV </a:t>
            </a:r>
            <a:r>
              <a:rPr lang="en-US" dirty="0">
                <a:latin typeface="Consolas" panose="020B0609020204030204" pitchFamily="49" charset="0"/>
              </a:rPr>
              <a:t>are dominated by</a:t>
            </a:r>
            <a:r>
              <a:rPr lang="en-US" b="1" dirty="0">
                <a:latin typeface="Consolas" panose="020B0609020204030204" pitchFamily="49" charset="0"/>
              </a:rPr>
              <a:t> Cars </a:t>
            </a:r>
            <a:r>
              <a:rPr lang="en-US" dirty="0">
                <a:latin typeface="Consolas" panose="020B0609020204030204" pitchFamily="49" charset="0"/>
              </a:rPr>
              <a:t>(90–99% share).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 Public charging types (slow &amp; fast) are entirely classified under EV.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General EV category shows a mix: Cars (64%), Buses (23%), and Vans (9%), indicating broader fleet diversity.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B2824B-8E1C-FC3B-E11A-F7879CA3E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533" y="1269307"/>
            <a:ext cx="9097645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79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FA68C-9055-C9E5-9D00-D4B55E8A2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5BAC44-2C5E-3BA9-A9F0-2EE4C97C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F02D0-FFFE-555C-D0C9-96AFBB40D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3D1BD1-4802-EC62-5D7D-120AE133BD37}"/>
              </a:ext>
            </a:extLst>
          </p:cNvPr>
          <p:cNvSpPr txBox="1"/>
          <p:nvPr/>
        </p:nvSpPr>
        <p:spPr>
          <a:xfrm>
            <a:off x="205946" y="3785247"/>
            <a:ext cx="117801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Insight: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Battery Electric Vehicles (BEVs) </a:t>
            </a:r>
            <a:r>
              <a:rPr lang="en-US" dirty="0">
                <a:latin typeface="Consolas" panose="020B0609020204030204" pitchFamily="49" charset="0"/>
              </a:rPr>
              <a:t>grew the most—highest usage in 2023.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Plug-in Hybrids (PHEVs) </a:t>
            </a:r>
            <a:r>
              <a:rPr lang="en-US" dirty="0">
                <a:latin typeface="Consolas" panose="020B0609020204030204" pitchFamily="49" charset="0"/>
              </a:rPr>
              <a:t>also increased, but less than BEVs.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 Other types like Fuel Cell EVs and public charging categories stayed low—little growth.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5BF05D-D3BB-9EBE-124D-8CF7132A2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221972"/>
            <a:ext cx="6483927" cy="23083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912F99-222C-3BD0-3945-04F5B521BA5E}"/>
              </a:ext>
            </a:extLst>
          </p:cNvPr>
          <p:cNvSpPr txBox="1"/>
          <p:nvPr/>
        </p:nvSpPr>
        <p:spPr>
          <a:xfrm>
            <a:off x="65902" y="164264"/>
            <a:ext cx="74916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US" dirty="0">
                <a:latin typeface="Consolas" panose="020B0609020204030204" pitchFamily="49" charset="0"/>
              </a:rPr>
              <a:t> Compare powertrain usage in 2020 vs. 2024 – what changed?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449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20D14-AB8A-0D60-0AE5-E7B7396F8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CD0460-4254-3080-7A45-8CA48C49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C84023-B30C-70A8-6F8F-3687297B0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E89FA2-2E8D-BC47-4494-97DAE09BC696}"/>
              </a:ext>
            </a:extLst>
          </p:cNvPr>
          <p:cNvSpPr txBox="1"/>
          <p:nvPr/>
        </p:nvSpPr>
        <p:spPr>
          <a:xfrm>
            <a:off x="205946" y="4707960"/>
            <a:ext cx="117801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Insight: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EV stock grew exponentially from </a:t>
            </a:r>
            <a:r>
              <a:rPr lang="en-US" b="1" dirty="0">
                <a:latin typeface="Consolas" panose="020B0609020204030204" pitchFamily="49" charset="0"/>
              </a:rPr>
              <a:t>0M in 2010 to 105M in 2022</a:t>
            </a:r>
            <a:r>
              <a:rPr lang="en-US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This reflects a global shift toward electrification, driven by policy, tech advances, and consumer adoption.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9C2A1-89DB-1353-1732-45F1955619F1}"/>
              </a:ext>
            </a:extLst>
          </p:cNvPr>
          <p:cNvSpPr txBox="1"/>
          <p:nvPr/>
        </p:nvSpPr>
        <p:spPr>
          <a:xfrm>
            <a:off x="65902" y="164264"/>
            <a:ext cx="7491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>
                <a:latin typeface="Consolas" panose="020B0609020204030204" pitchFamily="49" charset="0"/>
              </a:rPr>
              <a:t>Electric vehicles Growth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4186EF-9C33-313A-76B3-C63C71011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146" y="1099922"/>
            <a:ext cx="5425744" cy="291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49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5579C-7722-3B0F-576F-7E2F9FA1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7FDBD9-9DC9-40AC-DCB5-8E17F96A9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A0AF2-4773-81FD-29CB-ADF22A9DF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416A75-495C-4FD8-8588-84A0C61637BC}"/>
              </a:ext>
            </a:extLst>
          </p:cNvPr>
          <p:cNvSpPr txBox="1"/>
          <p:nvPr/>
        </p:nvSpPr>
        <p:spPr>
          <a:xfrm>
            <a:off x="263610" y="4297454"/>
            <a:ext cx="117801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Insight: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Cars</a:t>
            </a:r>
            <a:r>
              <a:rPr lang="en-US" dirty="0">
                <a:latin typeface="Consolas" panose="020B0609020204030204" pitchFamily="49" charset="0"/>
              </a:rPr>
              <a:t> dominate with </a:t>
            </a:r>
            <a:r>
              <a:rPr lang="en-US" b="1" dirty="0">
                <a:latin typeface="Consolas" panose="020B0609020204030204" pitchFamily="49" charset="0"/>
              </a:rPr>
              <a:t>41.4</a:t>
            </a:r>
            <a:r>
              <a:rPr lang="en-US" dirty="0">
                <a:latin typeface="Consolas" panose="020B0609020204030204" pitchFamily="49" charset="0"/>
              </a:rPr>
              <a:t>% of total units 3.8K, showing the</a:t>
            </a:r>
            <a:r>
              <a:rPr lang="en-US" b="1" dirty="0">
                <a:latin typeface="Consolas" panose="020B0609020204030204" pitchFamily="49" charset="0"/>
              </a:rPr>
              <a:t> highest adoption</a:t>
            </a:r>
            <a:r>
              <a:rPr lang="en-US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Buses and Vans </a:t>
            </a:r>
            <a:r>
              <a:rPr lang="en-US" dirty="0">
                <a:latin typeface="Consolas" panose="020B0609020204030204" pitchFamily="49" charset="0"/>
              </a:rPr>
              <a:t>are nearly equal </a:t>
            </a:r>
            <a:r>
              <a:rPr lang="en-US" b="1" dirty="0">
                <a:latin typeface="Consolas" panose="020B0609020204030204" pitchFamily="49" charset="0"/>
              </a:rPr>
              <a:t>20%</a:t>
            </a:r>
            <a:r>
              <a:rPr lang="en-US" dirty="0">
                <a:latin typeface="Consolas" panose="020B0609020204030204" pitchFamily="49" charset="0"/>
              </a:rPr>
              <a:t> each, indicating </a:t>
            </a:r>
            <a:r>
              <a:rPr lang="en-US" b="1" dirty="0">
                <a:latin typeface="Consolas" panose="020B0609020204030204" pitchFamily="49" charset="0"/>
              </a:rPr>
              <a:t>balanced fleet use</a:t>
            </a:r>
            <a:r>
              <a:rPr lang="en-US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Trucks</a:t>
            </a:r>
            <a:r>
              <a:rPr lang="en-US" dirty="0">
                <a:latin typeface="Consolas" panose="020B0609020204030204" pitchFamily="49" charset="0"/>
              </a:rPr>
              <a:t> account for </a:t>
            </a:r>
            <a:r>
              <a:rPr lang="en-US" b="1" dirty="0">
                <a:latin typeface="Consolas" panose="020B0609020204030204" pitchFamily="49" charset="0"/>
              </a:rPr>
              <a:t>11.2%, </a:t>
            </a:r>
            <a:r>
              <a:rPr lang="en-US" dirty="0">
                <a:latin typeface="Consolas" panose="020B0609020204030204" pitchFamily="49" charset="0"/>
              </a:rPr>
              <a:t>while </a:t>
            </a:r>
            <a:r>
              <a:rPr lang="en-US" b="1" dirty="0">
                <a:latin typeface="Consolas" panose="020B0609020204030204" pitchFamily="49" charset="0"/>
              </a:rPr>
              <a:t>EV (general category</a:t>
            </a:r>
            <a:r>
              <a:rPr lang="en-US" dirty="0">
                <a:latin typeface="Consolas" panose="020B0609020204030204" pitchFamily="49" charset="0"/>
              </a:rPr>
              <a:t>) is the smallest at </a:t>
            </a:r>
            <a:r>
              <a:rPr lang="en-US" b="1" dirty="0">
                <a:latin typeface="Consolas" panose="020B0609020204030204" pitchFamily="49" charset="0"/>
              </a:rPr>
              <a:t>8.2%, </a:t>
            </a:r>
            <a:r>
              <a:rPr lang="en-US" dirty="0">
                <a:latin typeface="Consolas" panose="020B0609020204030204" pitchFamily="49" charset="0"/>
              </a:rPr>
              <a:t>suggesting limited classification or mixed usage.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D10BD-4C78-C1D2-910E-293B793357B7}"/>
              </a:ext>
            </a:extLst>
          </p:cNvPr>
          <p:cNvSpPr txBox="1"/>
          <p:nvPr/>
        </p:nvSpPr>
        <p:spPr>
          <a:xfrm>
            <a:off x="65902" y="-401002"/>
            <a:ext cx="89700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>
                <a:latin typeface="Consolas" panose="020B0609020204030204" pitchFamily="49" charset="0"/>
              </a:rPr>
              <a:t>Mode Distribution</a:t>
            </a:r>
            <a:endParaRPr lang="en-US" b="1" dirty="0"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5B2B1E-127E-A8DD-7D26-BE9532203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873" y="1088795"/>
            <a:ext cx="5710843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23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D123A-3768-3CF9-2D85-69FA01C74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0572A5-3AF2-D7F1-EB83-D19B2C60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FFFB74-2F3E-00B1-6B49-BFDD140F9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04D913-BC1C-087A-A6A6-A3BFA7188697}"/>
              </a:ext>
            </a:extLst>
          </p:cNvPr>
          <p:cNvSpPr txBox="1"/>
          <p:nvPr/>
        </p:nvSpPr>
        <p:spPr>
          <a:xfrm>
            <a:off x="0" y="3423215"/>
            <a:ext cx="120437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Insight: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onsolas" panose="020B0609020204030204" pitchFamily="49" charset="0"/>
              </a:rPr>
              <a:t>Cars</a:t>
            </a:r>
            <a:r>
              <a:rPr lang="en-US" dirty="0">
                <a:latin typeface="Consolas" panose="020B0609020204030204" pitchFamily="49" charset="0"/>
              </a:rPr>
              <a:t> are driving the EV revolution—they make up the </a:t>
            </a:r>
            <a:r>
              <a:rPr lang="en-US" b="1" dirty="0">
                <a:latin typeface="Consolas" panose="020B0609020204030204" pitchFamily="49" charset="0"/>
              </a:rPr>
              <a:t>majority of electric vehicles </a:t>
            </a:r>
            <a:r>
              <a:rPr lang="en-US" dirty="0">
                <a:latin typeface="Consolas" panose="020B0609020204030204" pitchFamily="49" charset="0"/>
              </a:rPr>
              <a:t>on the road.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onsolas" panose="020B0609020204030204" pitchFamily="49" charset="0"/>
              </a:rPr>
              <a:t>Buses</a:t>
            </a:r>
            <a:r>
              <a:rPr lang="en-US" dirty="0">
                <a:latin typeface="Consolas" panose="020B0609020204030204" pitchFamily="49" charset="0"/>
              </a:rPr>
              <a:t> are going electric fast, especially with full </a:t>
            </a:r>
            <a:r>
              <a:rPr lang="en-US" b="1" dirty="0">
                <a:latin typeface="Consolas" panose="020B0609020204030204" pitchFamily="49" charset="0"/>
              </a:rPr>
              <a:t>battery systems (BEVs)</a:t>
            </a:r>
            <a:r>
              <a:rPr lang="en-US" dirty="0">
                <a:latin typeface="Consolas" panose="020B0609020204030204" pitchFamily="49" charset="0"/>
              </a:rPr>
              <a:t>, likely due to public transport electrification.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onsolas" panose="020B0609020204030204" pitchFamily="49" charset="0"/>
              </a:rPr>
              <a:t>Trucks and vans </a:t>
            </a:r>
            <a:r>
              <a:rPr lang="en-US" dirty="0">
                <a:latin typeface="Consolas" panose="020B0609020204030204" pitchFamily="49" charset="0"/>
              </a:rPr>
              <a:t>are </a:t>
            </a:r>
            <a:r>
              <a:rPr lang="en-US" b="1" dirty="0">
                <a:latin typeface="Consolas" panose="020B0609020204030204" pitchFamily="49" charset="0"/>
              </a:rPr>
              <a:t>slower to adopt</a:t>
            </a:r>
            <a:r>
              <a:rPr lang="en-US" dirty="0">
                <a:latin typeface="Consolas" panose="020B0609020204030204" pitchFamily="49" charset="0"/>
              </a:rPr>
              <a:t>, showing room for growth.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onsolas" panose="020B0609020204030204" pitchFamily="49" charset="0"/>
              </a:rPr>
              <a:t>Fuel Cell EVs </a:t>
            </a:r>
            <a:r>
              <a:rPr lang="en-US" dirty="0">
                <a:latin typeface="Consolas" panose="020B0609020204030204" pitchFamily="49" charset="0"/>
              </a:rPr>
              <a:t>(FCEVs) are rare, likely due to </a:t>
            </a:r>
            <a:r>
              <a:rPr lang="en-US" b="1" dirty="0">
                <a:latin typeface="Consolas" panose="020B0609020204030204" pitchFamily="49" charset="0"/>
              </a:rPr>
              <a:t>limited hydrogen infrastructure</a:t>
            </a:r>
            <a:r>
              <a:rPr lang="en-US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In short: EV adoption is led by cars and buses, but infrastructure and commercial vehicle electrification still need to catch up.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56F960-274D-7C84-52A1-3D43A7EB2777}"/>
              </a:ext>
            </a:extLst>
          </p:cNvPr>
          <p:cNvSpPr txBox="1"/>
          <p:nvPr/>
        </p:nvSpPr>
        <p:spPr>
          <a:xfrm>
            <a:off x="236274" y="151936"/>
            <a:ext cx="10527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US" dirty="0">
                <a:latin typeface="Consolas" panose="020B0609020204030204" pitchFamily="49" charset="0"/>
              </a:rPr>
              <a:t>How does powertrain adoption differ across transport modes (passenger, freight)?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9A2DD1-FDA2-22F7-EBD8-CFB0CCE388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32" y="1159002"/>
            <a:ext cx="7668695" cy="226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53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69969-6F38-68D9-4DB9-BE96FF507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0BD1D-E947-ECDD-179B-BF223741C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Consolas" panose="020B0609020204030204" pitchFamily="49" charset="0"/>
              </a:rPr>
              <a:t>Conclusion: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FAA0D5-D6A6-D5D1-531E-F64E1ED6E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8D54BE-68D1-61BC-E0ED-43249E33C68B}"/>
              </a:ext>
            </a:extLst>
          </p:cNvPr>
          <p:cNvSpPr txBox="1"/>
          <p:nvPr/>
        </p:nvSpPr>
        <p:spPr>
          <a:xfrm>
            <a:off x="156519" y="630523"/>
            <a:ext cx="1162358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This Power BI dashboard provides a comprehensive view of global Ev market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EV growth is accelerating fast, especially in China, Europe, and the USA.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Battery Electric Vehicles (BEVs) are the most popular type worldwide.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Charging stations are increasing, making EVs easier to use.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Government policies are helping boost EV adoption.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EV adoption varies by vehicle type and region—some areas are ahead, others are catching up.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Overall trend shows rapid electrification, with more EVs replacing fuel-based vehicles.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Energy demand is rising, as more EVs hit the roads.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The market is maturing, with better technology, infrastructure, and consumer awareness.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These insights help decision-makers plan production, build charging networks, and invest in future mobility.</a:t>
            </a:r>
          </a:p>
        </p:txBody>
      </p:sp>
    </p:spTree>
    <p:extLst>
      <p:ext uri="{BB962C8B-B14F-4D97-AF65-F5344CB8AC3E}">
        <p14:creationId xmlns:p14="http://schemas.microsoft.com/office/powerpoint/2010/main" val="2027359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414BC-667A-E362-9EF4-36DC8789A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458202-58DD-BDFE-F220-35D168302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9C8269-5072-7C69-9ED4-7EFF4F6F5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724" y="2132004"/>
            <a:ext cx="4328810" cy="24937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F53328-C1BC-55E0-C7D4-7E1150549956}"/>
              </a:ext>
            </a:extLst>
          </p:cNvPr>
          <p:cNvSpPr txBox="1"/>
          <p:nvPr/>
        </p:nvSpPr>
        <p:spPr>
          <a:xfrm>
            <a:off x="842232" y="2455561"/>
            <a:ext cx="6124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0" i="0" u="none" strike="noStrike" baseline="0" dirty="0">
                <a:solidFill>
                  <a:srgbClr val="C00000"/>
                </a:solidFill>
                <a:latin typeface="Consolas" panose="020B0609020204030204" pitchFamily="49" charset="0"/>
              </a:rPr>
              <a:t>THANK YOU</a:t>
            </a:r>
            <a:endParaRPr lang="en-IN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342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1124</Words>
  <Application>Microsoft Office PowerPoint</Application>
  <PresentationFormat>Widescreen</PresentationFormat>
  <Paragraphs>155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Consolas</vt:lpstr>
      <vt:lpstr>Courier New</vt:lpstr>
      <vt:lpstr>Wingdings</vt:lpstr>
      <vt:lpstr>Office Theme</vt:lpstr>
      <vt:lpstr>PowerPoint Presentation</vt:lpstr>
      <vt:lpstr>Contents:</vt:lpstr>
      <vt:lpstr>Problem Statement:</vt:lpstr>
      <vt:lpstr>Summary of the Data:</vt:lpstr>
      <vt:lpstr>Insights :</vt:lpstr>
      <vt:lpstr>Insights And Recommendations:</vt:lpstr>
      <vt:lpstr>Insights And Recommendations:</vt:lpstr>
      <vt:lpstr>Insights And Recommendations:</vt:lpstr>
      <vt:lpstr>Insights And Recommendations:</vt:lpstr>
      <vt:lpstr>Insights And Recommendations:</vt:lpstr>
      <vt:lpstr>Insights And Recommendations:</vt:lpstr>
      <vt:lpstr>Insights And Recommendations:</vt:lpstr>
      <vt:lpstr>Insights And Recommendations:</vt:lpstr>
      <vt:lpstr>Insights And Recommendations: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Bharadwaj</dc:creator>
  <cp:lastModifiedBy>Anand Bharadwaj</cp:lastModifiedBy>
  <cp:revision>28</cp:revision>
  <dcterms:created xsi:type="dcterms:W3CDTF">2025-10-08T10:00:49Z</dcterms:created>
  <dcterms:modified xsi:type="dcterms:W3CDTF">2025-11-15T05:23:22Z</dcterms:modified>
</cp:coreProperties>
</file>